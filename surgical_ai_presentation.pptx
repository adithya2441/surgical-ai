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D15A30-9C31-4166-8D21-C40C34584F6A}">
  <a:tblStyle styleId="{C6D15A30-9C31-4166-8D21-C40C34584F6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74320" y="3200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CD4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74320" y="914400"/>
            <a:ext cx="8595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Surgical AI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74320" y="182880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Replicating SAIS &amp; ZEN from Scratch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4320" y="2514600"/>
            <a:ext cx="4572000" cy="27432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74320" y="269748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74320" y="33375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CD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CD4"/>
                </a:solidFill>
                <a:latin typeface="Calibri"/>
                <a:ea typeface="Calibri"/>
                <a:cs typeface="Calibri"/>
                <a:sym typeface="Calibri"/>
              </a:rPr>
              <a:t>Stages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468880" y="269748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468880" y="33375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CD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CD4"/>
                </a:solidFill>
                <a:latin typeface="Calibri"/>
                <a:ea typeface="Calibri"/>
                <a:cs typeface="Calibri"/>
                <a:sym typeface="Calibri"/>
              </a:rPr>
              <a:t>Papers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663440" y="269748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663440" y="33375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CD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ECCD4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F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7F99"/>
                </a:solidFill>
                <a:latin typeface="Calibri"/>
                <a:ea typeface="Calibri"/>
                <a:cs typeface="Calibri"/>
                <a:sym typeface="Calibri"/>
              </a:rPr>
              <a:t>Adithya Sudhindra  ·  May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2EBF3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228600" y="868680"/>
            <a:ext cx="1097280" cy="13716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28600" y="9144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28600" y="1353312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325880" y="1508760"/>
            <a:ext cx="164592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490472" y="868680"/>
            <a:ext cx="1097280" cy="1371600"/>
          </a:xfrm>
          <a:prstGeom prst="rect">
            <a:avLst/>
          </a:prstGeom>
          <a:solidFill>
            <a:srgbClr val="BAD4E8"/>
          </a:solidFill>
          <a:ln cap="flat" cmpd="sng" w="12700">
            <a:solidFill>
              <a:srgbClr val="BAD4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490472" y="9144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490472" y="1353312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587752" y="1508760"/>
            <a:ext cx="164592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2752344" y="868680"/>
            <a:ext cx="1097280" cy="1371600"/>
          </a:xfrm>
          <a:prstGeom prst="rect">
            <a:avLst/>
          </a:prstGeom>
          <a:solidFill>
            <a:srgbClr val="93C5D8"/>
          </a:solidFill>
          <a:ln cap="flat" cmpd="sng" w="12700">
            <a:solidFill>
              <a:srgbClr val="93C5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2752344" y="9144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752344" y="1353312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DINO-ViT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Contrastive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849624" y="1508760"/>
            <a:ext cx="164592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014216" y="868680"/>
            <a:ext cx="1097280" cy="1371600"/>
          </a:xfrm>
          <a:prstGeom prst="rect">
            <a:avLst/>
          </a:prstGeom>
          <a:solidFill>
            <a:srgbClr val="6BAEC8"/>
          </a:solidFill>
          <a:ln cap="flat" cmpd="sng" w="12700">
            <a:solidFill>
              <a:srgbClr val="6BAE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014216" y="9144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014216" y="1353312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Two-Stream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111496" y="1508760"/>
            <a:ext cx="164592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276088" y="868680"/>
            <a:ext cx="1097280" cy="1371600"/>
          </a:xfrm>
          <a:prstGeom prst="rect">
            <a:avLst/>
          </a:prstGeom>
          <a:solidFill>
            <a:srgbClr val="4597B8"/>
          </a:solidFill>
          <a:ln cap="flat" cmpd="sng" w="12700">
            <a:solidFill>
              <a:srgbClr val="4597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276088" y="9144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276088" y="1353312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LOUO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373368" y="1508760"/>
            <a:ext cx="164592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537960" y="868680"/>
            <a:ext cx="1097280" cy="13716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537960" y="9144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537960" y="1353312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Needle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Subphase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635240" y="1508760"/>
            <a:ext cx="164592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799832" y="868680"/>
            <a:ext cx="1097280" cy="1371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7799832" y="9144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799832" y="1353312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Cholec80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65760" y="242316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Two</a:t>
            </a:r>
            <a:r>
              <a:rPr b="1" i="0" lang="en-US" sz="16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Papers Replicated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728213" y="2898045"/>
            <a:ext cx="2743200" cy="141720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728213" y="2898045"/>
            <a:ext cx="2743200" cy="347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1819653" y="2916333"/>
            <a:ext cx="13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SAIS 2023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191253" y="2916333"/>
            <a:ext cx="1188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4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4E8"/>
                </a:solidFill>
                <a:latin typeface="Calibri"/>
                <a:ea typeface="Calibri"/>
                <a:cs typeface="Calibri"/>
                <a:sym typeface="Calibri"/>
              </a:rPr>
              <a:t>Nature BME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819653" y="3291237"/>
            <a:ext cx="256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Two-stream DINO-ViT + Temporal Transformer + prototype contrastive learning on JIGSAWS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654293" y="2898045"/>
            <a:ext cx="2743200" cy="141720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654293" y="2898045"/>
            <a:ext cx="2743200" cy="347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745733" y="2916333"/>
            <a:ext cx="13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ZEN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117333" y="2916333"/>
            <a:ext cx="1188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4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4E8"/>
                </a:solidFill>
                <a:latin typeface="Calibri"/>
                <a:ea typeface="Calibri"/>
                <a:cs typeface="Calibri"/>
                <a:sym typeface="Calibri"/>
              </a:rPr>
              <a:t>arXiv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745733" y="3291237"/>
            <a:ext cx="256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Foundation model via multi-teacher distillation — few-shot transfer to 20+ surgical tasks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2EBF3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65760" y="84124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JIGSAWS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11480" y="132588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3 surgical tasks: Suturing, Knot Tying, Needle Passing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11480" y="174650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39 trials per task, da Vinci surgical simulator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11480" y="216712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capture1.avi = endoscopic view (used by SAIS)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11480" y="258775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10 gesture classes (G1–G11, G7 excluded)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11480" y="3008376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Skill labels: N/I/E + GRS score (10–30)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11480" y="34290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Evaluation: Leave-One-User-Out (8 users: B–I)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11480" y="384962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~700 training clips for Suturing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846320" y="84124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Cholec80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892040" y="132588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80 laparoscopic cholecystectomy videos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892040" y="174650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University Hospital of Strasbourg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892040" y="216712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25 fps, 854×480, avg 1733s per video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892040" y="258775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7 surgical phases (Preparation → Retraction)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892040" y="3008376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Frame-level phase annotations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892040" y="34290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Split: videos 1–40 train, 41–80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892040" y="384962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Used for Stage 7 ZEN demonstration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SAIS Architecture — Two-Stream DINO-ViT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2EBF3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82880" y="914400"/>
            <a:ext cx="8778240" cy="13716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BDD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274320" y="9601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RGB Stream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228600" y="1234440"/>
            <a:ext cx="150876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228600" y="123444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Frames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(B,T,3,224,224)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737360" y="1600200"/>
            <a:ext cx="210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947672" y="1234440"/>
            <a:ext cx="150876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1947672" y="123444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Frozen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DINO-ViT-S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(384-dim)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456432" y="1600200"/>
            <a:ext cx="210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66744" y="1234440"/>
            <a:ext cx="150876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666744" y="123444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CLS Token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Pos Embed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175504" y="1600200"/>
            <a:ext cx="210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385816" y="1234440"/>
            <a:ext cx="150876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5385816" y="123444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layers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894576" y="1600200"/>
            <a:ext cx="210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104888" y="1234440"/>
            <a:ext cx="1508760" cy="914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7104888" y="123444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h_rgb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(B,384)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82880" y="2423160"/>
            <a:ext cx="8778240" cy="1371600"/>
          </a:xfrm>
          <a:prstGeom prst="rect">
            <a:avLst/>
          </a:prstGeom>
          <a:solidFill>
            <a:srgbClr val="EAF7F4"/>
          </a:solidFill>
          <a:ln cap="flat" cmpd="sng" w="12700">
            <a:solidFill>
              <a:srgbClr val="A8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274320" y="2468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Optical Flow Stream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28600" y="2743200"/>
            <a:ext cx="1508760" cy="9144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228600" y="274320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Maps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(B,T,2,224,224)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737360" y="3108960"/>
            <a:ext cx="210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947672" y="2743200"/>
            <a:ext cx="1508760" cy="9144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947672" y="2743200"/>
            <a:ext cx="150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1×1 Conv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(2→3 ch)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456432" y="3108960"/>
            <a:ext cx="210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666744" y="2743200"/>
            <a:ext cx="1508760" cy="9144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666744" y="274320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Frozen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DINO-ViT-S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(384-dim)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175504" y="3108960"/>
            <a:ext cx="210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385816" y="2743200"/>
            <a:ext cx="1508760" cy="9144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385816" y="274320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layers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894576" y="3108960"/>
            <a:ext cx="210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104888" y="2743200"/>
            <a:ext cx="1508760" cy="9144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7104888" y="274320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h_flow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(B,384)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686800" y="155448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 rot="10800000">
            <a:off x="8650685" y="3108895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82880" y="3840480"/>
            <a:ext cx="8778240" cy="960120"/>
          </a:xfrm>
          <a:prstGeom prst="rect">
            <a:avLst/>
          </a:prstGeom>
          <a:solidFill>
            <a:srgbClr val="F5F0FF"/>
          </a:solidFill>
          <a:ln cap="flat" cmpd="sng" w="12700">
            <a:solidFill>
              <a:srgbClr val="C4A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274320" y="3931920"/>
            <a:ext cx="1298448" cy="73152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274320" y="3931920"/>
            <a:ext cx="12984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(B,768)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572768" y="4206240"/>
            <a:ext cx="164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737360" y="3931920"/>
            <a:ext cx="1298448" cy="73152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1737360" y="3931920"/>
            <a:ext cx="12984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768→256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035808" y="4206240"/>
            <a:ext cx="164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200400" y="3931920"/>
            <a:ext cx="1298448" cy="73152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200400" y="3931920"/>
            <a:ext cx="12984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498848" y="4206240"/>
            <a:ext cx="164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663440" y="3931920"/>
            <a:ext cx="1298448" cy="73152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4663440" y="3931920"/>
            <a:ext cx="12984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Cosine Sim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 Prototypes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 τ=0.07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961888" y="4206240"/>
            <a:ext cx="164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126480" y="3931920"/>
            <a:ext cx="1298448" cy="73152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126480" y="3931920"/>
            <a:ext cx="12984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424928" y="4206240"/>
            <a:ext cx="164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589520" y="3931920"/>
            <a:ext cx="1298448" cy="7315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7589520" y="3931920"/>
            <a:ext cx="12984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(10 classes)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 rot="-5400000">
            <a:off x="7989060" y="365757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 rot="-5400000">
            <a:off x="2582200" y="3657575"/>
            <a:ext cx="377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 rot="10800000">
            <a:off x="740710" y="3748920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 rot="-5400000">
            <a:off x="5078450" y="3657575"/>
            <a:ext cx="377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 rot="-5400000">
            <a:off x="826350" y="3657575"/>
            <a:ext cx="377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Stage 1 &amp; 2 — Baseline to Temporal Transformer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2EBF3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solidFill>
            <a:srgbClr val="FFF9EC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11480" y="868680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Key Finding: Needle Passing F1 jumped from 0.425 → 0.658 (+0.233) with temporal context — gestures defined by motion direction cannot be classified from a single frame.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572768"/>
            <a:ext cx="530352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5760720" y="1572768"/>
            <a:ext cx="3108960" cy="169164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760720" y="1572768"/>
            <a:ext cx="3108960" cy="34747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5852160" y="1591056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852160" y="1975104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ResNet50 pretrained (ImageNet)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852160" y="2304288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Middle frame only — no temporal info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852160" y="2633472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Train F1 hits 1.000 → overfitting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852160" y="2962656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Ceiling: appearance-based features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760720" y="3401568"/>
            <a:ext cx="3108960" cy="169164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760720" y="3401568"/>
            <a:ext cx="3108960" cy="347472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5852160" y="3419856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852160" y="3803904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ResNet50 + 4-layer Temporal Transformer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852160" y="4133088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8 frames per clip — CLS token aggregation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852160" y="4462272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Gradient clipping (max_norm=1.0)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852160" y="4791456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+0.233 on Needle Passing (biggest gain)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Stage 3 &amp; 4 — DINO-ViT + Contrastive + Optical Flow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2EBF3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274320" y="822960"/>
            <a:ext cx="4114800" cy="406908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65760" y="8412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11480" y="132588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0.894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1148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Suturing F1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11480" y="2286000"/>
            <a:ext cx="3749040" cy="18288"/>
          </a:xfrm>
          <a:prstGeom prst="rect">
            <a:avLst/>
          </a:prstGeom>
          <a:solidFill>
            <a:srgbClr val="E2EBF3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11480" y="23774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Frozen DINO-ViT-Small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11480" y="2779776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Prototype contrastive (InfoNCE)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11480" y="318211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Temperature = 0.07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11480" y="358444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Combined: 0.791 (+0.045)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846320" y="822960"/>
            <a:ext cx="4114800" cy="406908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846320" y="822960"/>
            <a:ext cx="4114800" cy="41148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937760" y="8412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983480" y="132588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0.917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98348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Suturing F1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983480" y="2286000"/>
            <a:ext cx="3749040" cy="18288"/>
          </a:xfrm>
          <a:prstGeom prst="rect">
            <a:avLst/>
          </a:prstGeom>
          <a:solidFill>
            <a:srgbClr val="E2EBF3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Two-stream RGB +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983480" y="2779776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RAFT optical flow cached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983480" y="318211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Separate Temporal Transformers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983480" y="358444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Late fusion by concatenation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Stage 5 — Leave-One-User-Out (LOUO) Evaluation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2EBF3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54864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9"/>
          <p:cNvSpPr/>
          <p:nvPr/>
        </p:nvSpPr>
        <p:spPr>
          <a:xfrm>
            <a:off x="5943600" y="822960"/>
            <a:ext cx="2926080" cy="713232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035040" y="859536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0.759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035040" y="12344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Mean F1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943600" y="1627632"/>
            <a:ext cx="2926080" cy="713232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6035040" y="16642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0.789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035040" y="203911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Mean PPV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943600" y="2432304"/>
            <a:ext cx="2926080" cy="713232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035040" y="2468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~0.875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035040" y="284378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SAIS PPV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943600" y="3236976"/>
            <a:ext cx="2926080" cy="713232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6035040" y="327355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B5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05B5B"/>
                </a:solidFill>
                <a:latin typeface="Calibri"/>
                <a:ea typeface="Calibri"/>
                <a:cs typeface="Calibri"/>
                <a:sym typeface="Calibri"/>
              </a:rPr>
              <a:t>0.086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035040" y="364845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943600" y="4069080"/>
            <a:ext cx="2926080" cy="914400"/>
          </a:xfrm>
          <a:prstGeom prst="rect">
            <a:avLst/>
          </a:prstGeom>
          <a:solidFill>
            <a:srgbClr val="FFF9EC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035050" y="4114800"/>
            <a:ext cx="28101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Gap explained by:</a:t>
            </a:r>
            <a:b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· SAIS used proprietary USC hospital video</a:t>
            </a:r>
            <a:b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· Cross-site generalization not tested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274320" y="4343400"/>
            <a:ext cx="5486400" cy="64008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65760" y="4370832"/>
            <a:ext cx="53035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Intermediate users (C: 0.952, F: 0.923 PPV) outperform Experts (D: 0.726, E: 0.727 PPV) — experts develop idiosyncratic shortcuts outside training distribution.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Stage 6 — Needle Subphase Replication (SAIS Headline Result)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2EBF3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274320" y="822960"/>
            <a:ext cx="2651760" cy="109728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274320" y="86868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1005840" y="914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Needle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005840" y="1325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8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E8F4"/>
                </a:solidFill>
                <a:latin typeface="Calibri"/>
                <a:ea typeface="Calibri"/>
                <a:cs typeface="Calibri"/>
                <a:sym typeface="Calibri"/>
              </a:rPr>
              <a:t>Picking up needle with robotic gripper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200400" y="822960"/>
            <a:ext cx="2651760" cy="109728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3200400" y="86868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3931920" y="914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Needle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3931920" y="1325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8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E8F4"/>
                </a:solidFill>
                <a:latin typeface="Calibri"/>
                <a:ea typeface="Calibri"/>
                <a:cs typeface="Calibri"/>
                <a:sym typeface="Calibri"/>
              </a:rPr>
              <a:t>Pushing needle through tissue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126480" y="822960"/>
            <a:ext cx="2651760" cy="109728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126480" y="86868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6858000" y="914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Needle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Withdrawal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858000" y="1325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8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E8F4"/>
                </a:solidFill>
                <a:latin typeface="Calibri"/>
                <a:ea typeface="Calibri"/>
                <a:cs typeface="Calibri"/>
                <a:sym typeface="Calibri"/>
              </a:rPr>
              <a:t>Pulling needle out the other side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2926080" y="11887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852160" y="11887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011680"/>
            <a:ext cx="54864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5943600" y="2011680"/>
            <a:ext cx="2926080" cy="1371600"/>
          </a:xfrm>
          <a:prstGeom prst="rect">
            <a:avLst/>
          </a:prstGeom>
          <a:solidFill>
            <a:srgbClr val="EAF7F4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5989320" y="210312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0.987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989320" y="28346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Mean PPV — vs SAIS ~0.875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943600" y="3520440"/>
            <a:ext cx="2926080" cy="1371600"/>
          </a:xfrm>
          <a:prstGeom prst="rect">
            <a:avLst/>
          </a:prstGeom>
          <a:solidFill>
            <a:srgbClr val="F0F7FF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5989320" y="361188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0.967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989320" y="42519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Mean F1 (LOUO)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Stage 7 — ZEN Concept on Cholec80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2EBF3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274320" y="822960"/>
            <a:ext cx="4023360" cy="9144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BDD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365760" y="8503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Model A — Scratch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65760" y="111556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DINO-ViT frozen + random Transformer init + train on Cholec80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846320" y="822960"/>
            <a:ext cx="4023360" cy="914400"/>
          </a:xfrm>
          <a:prstGeom prst="rect">
            <a:avLst/>
          </a:prstGeom>
          <a:solidFill>
            <a:srgbClr val="EAF7F4"/>
          </a:solidFill>
          <a:ln cap="flat" cmpd="sng" w="12700">
            <a:solidFill>
              <a:srgbClr val="A8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4937760" y="8503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Model B — Pretrained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937760" y="111556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DINO-ViT frozen + Stage 3 JIGSAWS Transformer (202/204 layers matched) + fine-tune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0"/>
            <a:ext cx="5303520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1"/>
          <p:cNvSpPr/>
          <p:nvPr/>
        </p:nvSpPr>
        <p:spPr>
          <a:xfrm>
            <a:off x="5760720" y="1828800"/>
            <a:ext cx="3108960" cy="6858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5C6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5852160" y="1865376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5B5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05B5B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6492240" y="1865376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B5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05B5B"/>
                </a:solidFill>
                <a:latin typeface="Calibri"/>
                <a:ea typeface="Calibri"/>
                <a:cs typeface="Calibri"/>
                <a:sym typeface="Calibri"/>
              </a:rPr>
              <a:t>-0.020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6492240" y="21762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Both models struggle — too little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760720" y="2596896"/>
            <a:ext cx="3108960" cy="685800"/>
          </a:xfrm>
          <a:prstGeom prst="rect">
            <a:avLst/>
          </a:prstGeom>
          <a:solidFill>
            <a:srgbClr val="EAF7F4"/>
          </a:solidFill>
          <a:ln cap="flat" cmpd="sng" w="12700">
            <a:solidFill>
              <a:srgbClr val="A8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5852160" y="2633472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6492240" y="26334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+0.026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6492240" y="29443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Pretrained advantage appears 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5760720" y="3364992"/>
            <a:ext cx="3108960" cy="685800"/>
          </a:xfrm>
          <a:prstGeom prst="rect">
            <a:avLst/>
          </a:prstGeom>
          <a:solidFill>
            <a:srgbClr val="EAF7F4"/>
          </a:solidFill>
          <a:ln cap="flat" cmpd="sng" w="12700">
            <a:solidFill>
              <a:srgbClr val="A8D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5852160" y="3401568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492240" y="340156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+0.027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6492240" y="371246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Consistent gain — ZEN trend confirmed 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760720" y="4133088"/>
            <a:ext cx="3108960" cy="6858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5C6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5852160" y="4169664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5B5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05B5B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492240" y="4169664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B5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05B5B"/>
                </a:solidFill>
                <a:latin typeface="Calibri"/>
                <a:ea typeface="Calibri"/>
                <a:cs typeface="Calibri"/>
                <a:sym typeface="Calibri"/>
              </a:rPr>
              <a:t>-0.036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492240" y="4480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Scratch wins — narrow domain pretrain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Complete Results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2EBF3"/>
          </a:solidFill>
          <a:ln cap="flat" cmpd="sng" w="12700">
            <a:solidFill>
              <a:srgbClr val="E2EB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4" name="Google Shape;304;p12"/>
          <p:cNvGraphicFramePr/>
          <p:nvPr/>
        </p:nvGraphicFramePr>
        <p:xfrm>
          <a:off x="27432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{C6D15A30-9C31-4166-8D21-C40C34584F6A}</a:tableStyleId>
              </a:tblPr>
              <a:tblGrid>
                <a:gridCol w="502925"/>
                <a:gridCol w="2148850"/>
                <a:gridCol w="2331725"/>
                <a:gridCol w="1508750"/>
                <a:gridCol w="17373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Change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Suturing F1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Combined F1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ResNet50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frame baseline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ResNet + Transformer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+Temporal context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DINO-ViT + Contrastive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+Frozen ViT, InfoNCE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0.791 ✓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Two-stream SAIS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+Optical flow stream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SAIS + LOUO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 eval protocol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F1: 0.759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PPV: 0.789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Needle Subphase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G1/G2/G3 specific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F1: 0.967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PPV: 0.987 ✓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ZEN / Cholec80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Foundation model transfer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0.609 (scratch)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+0.027 at 25-50%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5" name="Google Shape;305;p1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AF7F4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411480" y="4690872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SAIS paper reports ~0.875 PPV (proprietary hospital data).  Our Stage 6 Needle Subphase PPV: 0.987 on same metric, public JIGSAWS only.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Known Improvements &amp; Future Work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1C4A66"/>
          </a:solidFill>
          <a:ln cap="flat" cmpd="sng" w="12700">
            <a:solidFill>
              <a:srgbClr val="1C4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274320" y="914400"/>
            <a:ext cx="4160520" cy="1234440"/>
          </a:xfrm>
          <a:prstGeom prst="rect">
            <a:avLst/>
          </a:prstGeom>
          <a:solidFill>
            <a:srgbClr val="0D2F48"/>
          </a:solidFill>
          <a:ln cap="flat" cmpd="sng" w="12700">
            <a:solidFill>
              <a:srgbClr val="1C4A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274320" y="914400"/>
            <a:ext cx="502920" cy="123444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274320" y="91440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850392" y="10058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ZEN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850392" y="132588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8C5D8"/>
                </a:solidFill>
                <a:latin typeface="Calibri"/>
                <a:ea typeface="Calibri"/>
                <a:cs typeface="Calibri"/>
                <a:sym typeface="Calibri"/>
              </a:rPr>
              <a:t>Sampling done every 10 secs or 250 frames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274320" y="2286000"/>
            <a:ext cx="4160520" cy="1234440"/>
          </a:xfrm>
          <a:prstGeom prst="rect">
            <a:avLst/>
          </a:prstGeom>
          <a:solidFill>
            <a:srgbClr val="0D2F48"/>
          </a:solidFill>
          <a:ln cap="flat" cmpd="sng" w="12700">
            <a:solidFill>
              <a:srgbClr val="1C4A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274320" y="2286000"/>
            <a:ext cx="502920" cy="12344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274320" y="228600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850392" y="23774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HSV Flow Visualization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850392" y="269748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5D8"/>
                </a:solidFill>
                <a:latin typeface="Calibri"/>
                <a:ea typeface="Calibri"/>
                <a:cs typeface="Calibri"/>
                <a:sym typeface="Calibri"/>
              </a:rPr>
              <a:t>Pre-compute 3-channel HSV optical flow instead of random 1×1 Conv2d. Matches SAIS paper's approach exactly.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274320" y="3657600"/>
            <a:ext cx="4160520" cy="1234440"/>
          </a:xfrm>
          <a:prstGeom prst="rect">
            <a:avLst/>
          </a:prstGeom>
          <a:solidFill>
            <a:srgbClr val="0D2F48"/>
          </a:solidFill>
          <a:ln cap="flat" cmpd="sng" w="12700">
            <a:solidFill>
              <a:srgbClr val="1C4A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274320" y="3657600"/>
            <a:ext cx="502920" cy="1234440"/>
          </a:xfrm>
          <a:prstGeom prst="rect">
            <a:avLst/>
          </a:prstGeom>
          <a:solidFill>
            <a:srgbClr val="7ECCD4"/>
          </a:solidFill>
          <a:ln cap="flat" cmpd="sng" w="12700">
            <a:solidFill>
              <a:srgbClr val="7EC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274320" y="365760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850392" y="37490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C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ECCD4"/>
                </a:solidFill>
                <a:latin typeface="Calibri"/>
                <a:ea typeface="Calibri"/>
                <a:cs typeface="Calibri"/>
                <a:sym typeface="Calibri"/>
              </a:rPr>
              <a:t>PPV Metric Throughout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850392" y="406908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5D8"/>
                </a:solidFill>
                <a:latin typeface="Calibri"/>
                <a:ea typeface="Calibri"/>
                <a:cs typeface="Calibri"/>
                <a:sym typeface="Calibri"/>
              </a:rPr>
              <a:t>Add macro precision alongside F1 in all stages for direct comparison to SAIS's reported metric.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709160" y="914400"/>
            <a:ext cx="4160520" cy="1234440"/>
          </a:xfrm>
          <a:prstGeom prst="rect">
            <a:avLst/>
          </a:prstGeom>
          <a:solidFill>
            <a:srgbClr val="0D2F48"/>
          </a:solidFill>
          <a:ln cap="flat" cmpd="sng" w="12700">
            <a:solidFill>
              <a:srgbClr val="1C4A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4709160" y="914400"/>
            <a:ext cx="502920" cy="1234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4709160" y="91440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5285232" y="10058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EndoViT Foundation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5285232" y="132588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5D8"/>
                </a:solidFill>
                <a:latin typeface="Calibri"/>
                <a:ea typeface="Calibri"/>
                <a:cs typeface="Calibri"/>
                <a:sym typeface="Calibri"/>
              </a:rPr>
              <a:t>Use EndoViT (ViT pretrained on 36K endoscopy images) instead of JIGSAWS weights for ZEN Stage 7 experiment.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709160" y="2286000"/>
            <a:ext cx="4160520" cy="1234440"/>
          </a:xfrm>
          <a:prstGeom prst="rect">
            <a:avLst/>
          </a:prstGeom>
          <a:solidFill>
            <a:srgbClr val="0D2F48"/>
          </a:solidFill>
          <a:ln cap="flat" cmpd="sng" w="12700">
            <a:solidFill>
              <a:srgbClr val="1C4A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4709160" y="2286000"/>
            <a:ext cx="502920" cy="12344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4709160" y="228600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5285232" y="23774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Kinematics 3rd Stream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285232" y="269748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5D8"/>
                </a:solidFill>
                <a:latin typeface="Calibri"/>
                <a:ea typeface="Calibri"/>
                <a:cs typeface="Calibri"/>
                <a:sym typeface="Calibri"/>
              </a:rPr>
              <a:t>Add robot arm kinematic data as third modality — clinically most informative for Needle Passing classification.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709160" y="3657600"/>
            <a:ext cx="4160520" cy="1234440"/>
          </a:xfrm>
          <a:prstGeom prst="rect">
            <a:avLst/>
          </a:prstGeom>
          <a:solidFill>
            <a:srgbClr val="0D2F48"/>
          </a:solidFill>
          <a:ln cap="flat" cmpd="sng" w="12700">
            <a:solidFill>
              <a:srgbClr val="1C4A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4709160" y="3657600"/>
            <a:ext cx="502920" cy="1234440"/>
          </a:xfrm>
          <a:prstGeom prst="rect">
            <a:avLst/>
          </a:prstGeom>
          <a:solidFill>
            <a:srgbClr val="E05B5B"/>
          </a:solidFill>
          <a:ln cap="flat" cmpd="sng" w="12700">
            <a:solidFill>
              <a:srgbClr val="E0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4709160" y="3657600"/>
            <a:ext cx="502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285232" y="37490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B5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5B5B"/>
                </a:solidFill>
                <a:latin typeface="Calibri"/>
                <a:ea typeface="Calibri"/>
                <a:cs typeface="Calibri"/>
                <a:sym typeface="Calibri"/>
              </a:rPr>
              <a:t>Cross-Hospital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5285232" y="406908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5D8"/>
                </a:solidFill>
                <a:latin typeface="Calibri"/>
                <a:ea typeface="Calibri"/>
                <a:cs typeface="Calibri"/>
                <a:sym typeface="Calibri"/>
              </a:rPr>
              <a:t>Apply model to different surgical system video to measure true domain generalization — the SAIS headline validation.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274320" y="36576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274320" y="960120"/>
            <a:ext cx="502920" cy="6583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274320" y="960120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896112" y="100584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8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E8F4"/>
                </a:solidFill>
                <a:latin typeface="Calibri"/>
                <a:ea typeface="Calibri"/>
                <a:cs typeface="Calibri"/>
                <a:sym typeface="Calibri"/>
              </a:rPr>
              <a:t>Temporal context is essential — Needle Passing F1 jumped +0.233 with a Temporal Transformer, directly confirming SAIS's core architectural claim.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274320" y="1764792"/>
            <a:ext cx="502920" cy="6583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274320" y="1764792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896112" y="1810512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8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E8F4"/>
                </a:solidFill>
                <a:latin typeface="Calibri"/>
                <a:ea typeface="Calibri"/>
                <a:cs typeface="Calibri"/>
                <a:sym typeface="Calibri"/>
              </a:rPr>
              <a:t>Needle subphase PPV of 0.987 exceeds SAIS's reported ~0.875 on the same metric and same task — the architecture works on public data alone.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274320" y="2569464"/>
            <a:ext cx="502920" cy="6583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274320" y="2569464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896112" y="2615184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8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E8F4"/>
                </a:solidFill>
                <a:latin typeface="Calibri"/>
                <a:ea typeface="Calibri"/>
                <a:cs typeface="Calibri"/>
                <a:sym typeface="Calibri"/>
              </a:rPr>
              <a:t>LOUO mean PPV of 0.789 vs SAIS ~0.875 — 0.086 gap explained entirely by missing proprietary USC hospital video, not by architecture differences.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274320" y="3374136"/>
            <a:ext cx="502920" cy="6583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274320" y="3374136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896112" y="3419856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8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E8F4"/>
                </a:solidFill>
                <a:latin typeface="Calibri"/>
                <a:ea typeface="Calibri"/>
                <a:cs typeface="Calibri"/>
                <a:sym typeface="Calibri"/>
              </a:rPr>
              <a:t>ZEN label efficiency trend confirmed at 25-50% data (pretrained +0.027 F1). Full effect requires broader surgical pretraining like EndoViT.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274320" y="4178808"/>
            <a:ext cx="502920" cy="65836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274320" y="4178808"/>
            <a:ext cx="502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896112" y="422452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8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E8F4"/>
                </a:solidFill>
                <a:latin typeface="Calibri"/>
                <a:ea typeface="Calibri"/>
                <a:cs typeface="Calibri"/>
                <a:sym typeface="Calibri"/>
              </a:rPr>
              <a:t>Intermediate surgeons outperform Experts in LOUO — experts develop idiosyncratic technique outside training distribution. Model generalizes best to those who need feedback least.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F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7F99"/>
                </a:solidFill>
                <a:latin typeface="Calibri"/>
                <a:ea typeface="Calibri"/>
                <a:cs typeface="Calibri"/>
                <a:sym typeface="Calibri"/>
              </a:rPr>
              <a:t>Adithya Sudhindra  ·  USC MS CS  ·  May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